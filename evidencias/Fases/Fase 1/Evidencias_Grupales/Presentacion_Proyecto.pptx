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f+iK2MipTSuXfCiF0aTiw4jLT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140741" y="985247"/>
            <a:ext cx="5119443" cy="6399304"/>
          </a:xfrm>
          <a:custGeom>
            <a:rect b="b" l="l" r="r" t="t"/>
            <a:pathLst>
              <a:path extrusionOk="0" h="6399304" w="5119443">
                <a:moveTo>
                  <a:pt x="0" y="0"/>
                </a:moveTo>
                <a:lnTo>
                  <a:pt x="5119444" y="0"/>
                </a:lnTo>
                <a:lnTo>
                  <a:pt x="5119444" y="6399304"/>
                </a:lnTo>
                <a:lnTo>
                  <a:pt x="0" y="6399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86" name="Google Shape;86;p1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" name="Google Shape;89;p1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1263377" y="1845652"/>
            <a:ext cx="11129400" cy="46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37" u="none" cap="none" strike="noStrike">
                <a:solidFill>
                  <a:srgbClr val="394157"/>
                </a:solidFill>
                <a:latin typeface="Ultra"/>
                <a:ea typeface="Ultra"/>
                <a:cs typeface="Ultra"/>
                <a:sym typeface="Ultra"/>
              </a:rPr>
              <a:t>“AgeUp Games”</a:t>
            </a:r>
            <a:endParaRPr/>
          </a:p>
          <a:p>
            <a:pPr indent="0" lvl="0" marL="0" marR="0" rtl="0" algn="l">
              <a:lnSpc>
                <a:spcPct val="9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37" u="none" cap="none" strike="noStrike">
                <a:solidFill>
                  <a:srgbClr val="394157"/>
                </a:solidFill>
                <a:latin typeface="Ultra"/>
                <a:ea typeface="Ultra"/>
                <a:cs typeface="Ultra"/>
                <a:sym typeface="Ultra"/>
              </a:rPr>
              <a:t>App web de minijuegos cognitivos para la 3ra edad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91314" y="6959808"/>
            <a:ext cx="92532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NOMBRES: SOFÍA CARTAGENA,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ALLEN RODRIGUEZ</a:t>
            </a:r>
            <a:r>
              <a:rPr lang="en-US" sz="3200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en-US" sz="3200" u="none" cap="none" strike="noStrike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 ESTEBAN </a:t>
            </a:r>
            <a:r>
              <a:rPr lang="en-US" sz="3200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RODRÍGUEZ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NOMBRE DE LA EMPRESA: HOSPITAL GERIATRICO LA PAZ DE LA TARDE LIMACHE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10757" y="7546399"/>
            <a:ext cx="2677625" cy="24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12268177" y="5293358"/>
            <a:ext cx="4590548" cy="4114800"/>
          </a:xfrm>
          <a:custGeom>
            <a:rect b="b" l="l" r="r" t="t"/>
            <a:pathLst>
              <a:path extrusionOk="0"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-921333">
            <a:off x="7420032" y="5064511"/>
            <a:ext cx="2592005" cy="4073151"/>
          </a:xfrm>
          <a:custGeom>
            <a:rect b="b" l="l" r="r" t="t"/>
            <a:pathLst>
              <a:path extrusionOk="0" h="4070201" w="2590128">
                <a:moveTo>
                  <a:pt x="0" y="0"/>
                </a:moveTo>
                <a:lnTo>
                  <a:pt x="2590129" y="0"/>
                </a:lnTo>
                <a:lnTo>
                  <a:pt x="2590129" y="4070202"/>
                </a:lnTo>
                <a:lnTo>
                  <a:pt x="0" y="4070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2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03" name="Google Shape;103;p2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2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2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6" name="Google Shape;106;p2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1221533" y="5271059"/>
            <a:ext cx="3224974" cy="4114800"/>
          </a:xfrm>
          <a:custGeom>
            <a:rect b="b" l="l" r="r" t="t"/>
            <a:pathLst>
              <a:path extrusionOk="0" h="4114800" w="3224974">
                <a:moveTo>
                  <a:pt x="0" y="0"/>
                </a:moveTo>
                <a:lnTo>
                  <a:pt x="3224974" y="0"/>
                </a:lnTo>
                <a:lnTo>
                  <a:pt x="3224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1221533" y="1670644"/>
            <a:ext cx="3592997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PROBLEMÁTICA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76530" y="2627572"/>
            <a:ext cx="4685633" cy="2119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adultos mayores en hospitales geriátricos enfrentan aislamiento, monotonía y desmotivación, lo que repercute en su bienestar físico y mental. 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407456" y="1458880"/>
            <a:ext cx="3465689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OBJETIVO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436245" y="2695597"/>
            <a:ext cx="5584111" cy="165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Integrar a los pacientes al mundo digital utilizando mini-juegos didácticos en un programa web simple y accesible para el adulto mayor.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3480869" y="1458880"/>
            <a:ext cx="3473087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TECNOLOGÍA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994439" y="2865370"/>
            <a:ext cx="4517031" cy="169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utilizarán varias tecnologías, ej.: para el backend se utilizará Javascript y Python. Ya que la empresa lo recomienda.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3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22" name="Google Shape;122;p3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3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3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5" name="Google Shape;125;p3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1286750" y="1952700"/>
            <a:ext cx="116106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9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Competencias y perfil de egreso 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2875" y="4977250"/>
            <a:ext cx="8767800" cy="45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4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36" name="Google Shape;136;p4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4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4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9" name="Google Shape;139;p4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12011030" y="2198628"/>
            <a:ext cx="5558287" cy="5889744"/>
          </a:xfrm>
          <a:custGeom>
            <a:rect b="b" l="l" r="r" t="t"/>
            <a:pathLst>
              <a:path extrusionOk="0" h="5889744" w="5558287">
                <a:moveTo>
                  <a:pt x="0" y="0"/>
                </a:moveTo>
                <a:lnTo>
                  <a:pt x="5558287" y="0"/>
                </a:lnTo>
                <a:lnTo>
                  <a:pt x="5558287" y="5889744"/>
                </a:lnTo>
                <a:lnTo>
                  <a:pt x="0" y="58897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160725" y="2198625"/>
            <a:ext cx="7893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Objetivos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028700" y="3809612"/>
            <a:ext cx="3280324" cy="1093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Objetivos generales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7282175" y="3809612"/>
            <a:ext cx="3499198" cy="1093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Objetivos específicos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5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52" name="Google Shape;152;p5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5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5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5" name="Google Shape;155;p5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5"/>
          <p:cNvSpPr/>
          <p:nvPr/>
        </p:nvSpPr>
        <p:spPr>
          <a:xfrm>
            <a:off x="7322256" y="2932268"/>
            <a:ext cx="10550808" cy="7033872"/>
          </a:xfrm>
          <a:custGeom>
            <a:rect b="b" l="l" r="r" t="t"/>
            <a:pathLst>
              <a:path extrusionOk="0" h="7033872" w="10550808">
                <a:moveTo>
                  <a:pt x="0" y="0"/>
                </a:moveTo>
                <a:lnTo>
                  <a:pt x="10550807" y="0"/>
                </a:lnTo>
                <a:lnTo>
                  <a:pt x="10550807" y="7033872"/>
                </a:lnTo>
                <a:lnTo>
                  <a:pt x="0" y="7033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 txBox="1"/>
          <p:nvPr/>
        </p:nvSpPr>
        <p:spPr>
          <a:xfrm>
            <a:off x="2145180" y="5095875"/>
            <a:ext cx="4140181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METODOLOGIA SCRUM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4215270" y="933450"/>
            <a:ext cx="9857459" cy="228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0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Metodología utilizada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6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67" name="Google Shape;167;p6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0" name="Google Shape;170;p6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10363376" y="5839741"/>
            <a:ext cx="2080239" cy="2080239"/>
          </a:xfrm>
          <a:custGeom>
            <a:rect b="b" l="l" r="r" t="t"/>
            <a:pathLst>
              <a:path extrusionOk="0" h="2080239" w="2080239">
                <a:moveTo>
                  <a:pt x="0" y="0"/>
                </a:moveTo>
                <a:lnTo>
                  <a:pt x="2080240" y="0"/>
                </a:lnTo>
                <a:lnTo>
                  <a:pt x="2080240" y="2080239"/>
                </a:lnTo>
                <a:lnTo>
                  <a:pt x="0" y="2080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13700916" y="6054908"/>
            <a:ext cx="2749841" cy="1649905"/>
          </a:xfrm>
          <a:custGeom>
            <a:rect b="b" l="l" r="r" t="t"/>
            <a:pathLst>
              <a:path extrusionOk="0" h="1649905" w="2749841">
                <a:moveTo>
                  <a:pt x="0" y="0"/>
                </a:moveTo>
                <a:lnTo>
                  <a:pt x="2749841" y="0"/>
                </a:lnTo>
                <a:lnTo>
                  <a:pt x="2749841" y="1649905"/>
                </a:lnTo>
                <a:lnTo>
                  <a:pt x="0" y="1649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6"/>
          <p:cNvSpPr/>
          <p:nvPr/>
        </p:nvSpPr>
        <p:spPr>
          <a:xfrm>
            <a:off x="891945" y="5143500"/>
            <a:ext cx="4245416" cy="3905783"/>
          </a:xfrm>
          <a:custGeom>
            <a:rect b="b" l="l" r="r" t="t"/>
            <a:pathLst>
              <a:path extrusionOk="0" h="3905783" w="4245416">
                <a:moveTo>
                  <a:pt x="0" y="0"/>
                </a:moveTo>
                <a:lnTo>
                  <a:pt x="4245416" y="0"/>
                </a:lnTo>
                <a:lnTo>
                  <a:pt x="4245416" y="3905783"/>
                </a:lnTo>
                <a:lnTo>
                  <a:pt x="0" y="3905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6"/>
          <p:cNvSpPr/>
          <p:nvPr/>
        </p:nvSpPr>
        <p:spPr>
          <a:xfrm rot="812347">
            <a:off x="5087420" y="5159830"/>
            <a:ext cx="2678060" cy="2678060"/>
          </a:xfrm>
          <a:custGeom>
            <a:rect b="b" l="l" r="r" t="t"/>
            <a:pathLst>
              <a:path extrusionOk="0" h="2678060" w="2678060">
                <a:moveTo>
                  <a:pt x="0" y="0"/>
                </a:moveTo>
                <a:lnTo>
                  <a:pt x="2678060" y="0"/>
                </a:lnTo>
                <a:lnTo>
                  <a:pt x="2678060" y="2678061"/>
                </a:lnTo>
                <a:lnTo>
                  <a:pt x="0" y="2678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6"/>
          <p:cNvSpPr/>
          <p:nvPr/>
        </p:nvSpPr>
        <p:spPr>
          <a:xfrm rot="-617519">
            <a:off x="6613596" y="6387838"/>
            <a:ext cx="2302284" cy="2302284"/>
          </a:xfrm>
          <a:custGeom>
            <a:rect b="b" l="l" r="r" t="t"/>
            <a:pathLst>
              <a:path extrusionOk="0" h="2302284" w="2302284">
                <a:moveTo>
                  <a:pt x="0" y="0"/>
                </a:moveTo>
                <a:lnTo>
                  <a:pt x="2302284" y="0"/>
                </a:lnTo>
                <a:lnTo>
                  <a:pt x="2302284" y="2302284"/>
                </a:lnTo>
                <a:lnTo>
                  <a:pt x="0" y="2302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6"/>
          <p:cNvSpPr txBox="1"/>
          <p:nvPr/>
        </p:nvSpPr>
        <p:spPr>
          <a:xfrm>
            <a:off x="891945" y="3862224"/>
            <a:ext cx="3592997" cy="96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DESARROLLO FRONT-END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5171906" y="3873163"/>
            <a:ext cx="3465689" cy="96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DESARROLLO BACK-END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9323395" y="4120813"/>
            <a:ext cx="3473087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BASE DE DATOS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3494784" y="4109874"/>
            <a:ext cx="3473087" cy="471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5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INFRAESTRUCTURA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3385076" y="1191606"/>
            <a:ext cx="10953000" cy="24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0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 Tecnologías utilizadas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7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189" name="Google Shape;189;p7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2" name="Google Shape;192;p7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7"/>
          <p:cNvGrpSpPr/>
          <p:nvPr/>
        </p:nvGrpSpPr>
        <p:grpSpPr>
          <a:xfrm>
            <a:off x="760007" y="4971878"/>
            <a:ext cx="3390071" cy="966656"/>
            <a:chOff x="0" y="-38100"/>
            <a:chExt cx="752593" cy="214597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752593" cy="176497"/>
            </a:xfrm>
            <a:custGeom>
              <a:rect b="b" l="l" r="r" t="t"/>
              <a:pathLst>
                <a:path extrusionOk="0" h="176497" w="752593">
                  <a:moveTo>
                    <a:pt x="88248" y="0"/>
                  </a:moveTo>
                  <a:lnTo>
                    <a:pt x="664344" y="0"/>
                  </a:lnTo>
                  <a:cubicBezTo>
                    <a:pt x="687749" y="0"/>
                    <a:pt x="710195" y="9298"/>
                    <a:pt x="726745" y="25847"/>
                  </a:cubicBezTo>
                  <a:cubicBezTo>
                    <a:pt x="743295" y="42397"/>
                    <a:pt x="752593" y="64843"/>
                    <a:pt x="752593" y="88248"/>
                  </a:cubicBezTo>
                  <a:lnTo>
                    <a:pt x="752593" y="88248"/>
                  </a:lnTo>
                  <a:cubicBezTo>
                    <a:pt x="752593" y="136987"/>
                    <a:pt x="713082" y="176497"/>
                    <a:pt x="664344" y="176497"/>
                  </a:cubicBezTo>
                  <a:lnTo>
                    <a:pt x="88248" y="176497"/>
                  </a:lnTo>
                  <a:cubicBezTo>
                    <a:pt x="64843" y="176497"/>
                    <a:pt x="42397" y="167199"/>
                    <a:pt x="25847" y="150649"/>
                  </a:cubicBezTo>
                  <a:cubicBezTo>
                    <a:pt x="9298" y="134100"/>
                    <a:pt x="0" y="111653"/>
                    <a:pt x="0" y="88248"/>
                  </a:cubicBezTo>
                  <a:lnTo>
                    <a:pt x="0" y="88248"/>
                  </a:lnTo>
                  <a:cubicBezTo>
                    <a:pt x="0" y="64843"/>
                    <a:pt x="9298" y="42397"/>
                    <a:pt x="25847" y="25847"/>
                  </a:cubicBezTo>
                  <a:cubicBezTo>
                    <a:pt x="42397" y="9298"/>
                    <a:pt x="64843" y="0"/>
                    <a:pt x="88248" y="0"/>
                  </a:cubicBezTo>
                  <a:close/>
                </a:path>
              </a:pathLst>
            </a:custGeom>
            <a:solidFill>
              <a:srgbClr val="010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0" y="-38100"/>
              <a:ext cx="752593" cy="21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C3504"/>
                  </a:solidFill>
                  <a:latin typeface="Open Sans"/>
                  <a:ea typeface="Open Sans"/>
                  <a:cs typeface="Open Sans"/>
                  <a:sym typeface="Open Sans"/>
                </a:rPr>
                <a:t>LOGIN</a:t>
              </a:r>
              <a:endParaRPr/>
            </a:p>
          </p:txBody>
        </p:sp>
      </p:grpSp>
      <p:sp>
        <p:nvSpPr>
          <p:cNvPr id="196" name="Google Shape;196;p7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4136081" y="1177539"/>
            <a:ext cx="9857459" cy="228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0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Características y funcionalidades</a:t>
            </a:r>
            <a:endParaRPr/>
          </a:p>
        </p:txBody>
      </p:sp>
      <p:grpSp>
        <p:nvGrpSpPr>
          <p:cNvPr id="200" name="Google Shape;200;p7"/>
          <p:cNvGrpSpPr/>
          <p:nvPr/>
        </p:nvGrpSpPr>
        <p:grpSpPr>
          <a:xfrm>
            <a:off x="4600348" y="4971878"/>
            <a:ext cx="3955083" cy="966656"/>
            <a:chOff x="0" y="-38100"/>
            <a:chExt cx="878025" cy="214597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878025" cy="176497"/>
            </a:xfrm>
            <a:custGeom>
              <a:rect b="b" l="l" r="r" t="t"/>
              <a:pathLst>
                <a:path extrusionOk="0" h="176497" w="878025">
                  <a:moveTo>
                    <a:pt x="88248" y="0"/>
                  </a:moveTo>
                  <a:lnTo>
                    <a:pt x="789776" y="0"/>
                  </a:lnTo>
                  <a:cubicBezTo>
                    <a:pt x="838515" y="0"/>
                    <a:pt x="878025" y="39510"/>
                    <a:pt x="878025" y="88248"/>
                  </a:cubicBezTo>
                  <a:lnTo>
                    <a:pt x="878025" y="88248"/>
                  </a:lnTo>
                  <a:cubicBezTo>
                    <a:pt x="878025" y="111653"/>
                    <a:pt x="868727" y="134100"/>
                    <a:pt x="852177" y="150649"/>
                  </a:cubicBezTo>
                  <a:cubicBezTo>
                    <a:pt x="835628" y="167199"/>
                    <a:pt x="813181" y="176497"/>
                    <a:pt x="789776" y="176497"/>
                  </a:cubicBezTo>
                  <a:lnTo>
                    <a:pt x="88248" y="176497"/>
                  </a:lnTo>
                  <a:cubicBezTo>
                    <a:pt x="64843" y="176497"/>
                    <a:pt x="42397" y="167199"/>
                    <a:pt x="25847" y="150649"/>
                  </a:cubicBezTo>
                  <a:cubicBezTo>
                    <a:pt x="9298" y="134100"/>
                    <a:pt x="0" y="111653"/>
                    <a:pt x="0" y="88248"/>
                  </a:cubicBezTo>
                  <a:lnTo>
                    <a:pt x="0" y="88248"/>
                  </a:lnTo>
                  <a:cubicBezTo>
                    <a:pt x="0" y="64843"/>
                    <a:pt x="9298" y="42397"/>
                    <a:pt x="25847" y="25847"/>
                  </a:cubicBezTo>
                  <a:cubicBezTo>
                    <a:pt x="42397" y="9298"/>
                    <a:pt x="64843" y="0"/>
                    <a:pt x="88248" y="0"/>
                  </a:cubicBezTo>
                  <a:close/>
                </a:path>
              </a:pathLst>
            </a:custGeom>
            <a:solidFill>
              <a:srgbClr val="010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0" y="-38100"/>
              <a:ext cx="878025" cy="21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C3504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INTERFAZ AMIGABLE</a:t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9007440" y="4971878"/>
            <a:ext cx="3955083" cy="966656"/>
            <a:chOff x="0" y="-38100"/>
            <a:chExt cx="878025" cy="214597"/>
          </a:xfrm>
        </p:grpSpPr>
        <p:sp>
          <p:nvSpPr>
            <p:cNvPr id="204" name="Google Shape;204;p7"/>
            <p:cNvSpPr/>
            <p:nvPr/>
          </p:nvSpPr>
          <p:spPr>
            <a:xfrm>
              <a:off x="0" y="0"/>
              <a:ext cx="878025" cy="176497"/>
            </a:xfrm>
            <a:custGeom>
              <a:rect b="b" l="l" r="r" t="t"/>
              <a:pathLst>
                <a:path extrusionOk="0" h="176497" w="878025">
                  <a:moveTo>
                    <a:pt x="88248" y="0"/>
                  </a:moveTo>
                  <a:lnTo>
                    <a:pt x="789776" y="0"/>
                  </a:lnTo>
                  <a:cubicBezTo>
                    <a:pt x="838515" y="0"/>
                    <a:pt x="878025" y="39510"/>
                    <a:pt x="878025" y="88248"/>
                  </a:cubicBezTo>
                  <a:lnTo>
                    <a:pt x="878025" y="88248"/>
                  </a:lnTo>
                  <a:cubicBezTo>
                    <a:pt x="878025" y="111653"/>
                    <a:pt x="868727" y="134100"/>
                    <a:pt x="852177" y="150649"/>
                  </a:cubicBezTo>
                  <a:cubicBezTo>
                    <a:pt x="835628" y="167199"/>
                    <a:pt x="813181" y="176497"/>
                    <a:pt x="789776" y="176497"/>
                  </a:cubicBezTo>
                  <a:lnTo>
                    <a:pt x="88248" y="176497"/>
                  </a:lnTo>
                  <a:cubicBezTo>
                    <a:pt x="64843" y="176497"/>
                    <a:pt x="42397" y="167199"/>
                    <a:pt x="25847" y="150649"/>
                  </a:cubicBezTo>
                  <a:cubicBezTo>
                    <a:pt x="9298" y="134100"/>
                    <a:pt x="0" y="111653"/>
                    <a:pt x="0" y="88248"/>
                  </a:cubicBezTo>
                  <a:lnTo>
                    <a:pt x="0" y="88248"/>
                  </a:lnTo>
                  <a:cubicBezTo>
                    <a:pt x="0" y="64843"/>
                    <a:pt x="9298" y="42397"/>
                    <a:pt x="25847" y="25847"/>
                  </a:cubicBezTo>
                  <a:cubicBezTo>
                    <a:pt x="42397" y="9298"/>
                    <a:pt x="64843" y="0"/>
                    <a:pt x="88248" y="0"/>
                  </a:cubicBezTo>
                  <a:close/>
                </a:path>
              </a:pathLst>
            </a:custGeom>
            <a:solidFill>
              <a:srgbClr val="010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0" y="-38100"/>
              <a:ext cx="878025" cy="21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C3504"/>
                  </a:solidFill>
                  <a:latin typeface="Open Sans"/>
                  <a:ea typeface="Open Sans"/>
                  <a:cs typeface="Open Sans"/>
                  <a:sym typeface="Open Sans"/>
                </a:rPr>
                <a:t>JUEGOS COGNITIVOS</a:t>
              </a:r>
              <a:endParaRPr/>
            </a:p>
          </p:txBody>
        </p:sp>
      </p:grpSp>
      <p:grpSp>
        <p:nvGrpSpPr>
          <p:cNvPr id="206" name="Google Shape;206;p7"/>
          <p:cNvGrpSpPr/>
          <p:nvPr/>
        </p:nvGrpSpPr>
        <p:grpSpPr>
          <a:xfrm>
            <a:off x="13414532" y="4971878"/>
            <a:ext cx="3955083" cy="966656"/>
            <a:chOff x="0" y="-38100"/>
            <a:chExt cx="878025" cy="214597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878025" cy="176497"/>
            </a:xfrm>
            <a:custGeom>
              <a:rect b="b" l="l" r="r" t="t"/>
              <a:pathLst>
                <a:path extrusionOk="0" h="176497" w="878025">
                  <a:moveTo>
                    <a:pt x="88248" y="0"/>
                  </a:moveTo>
                  <a:lnTo>
                    <a:pt x="789776" y="0"/>
                  </a:lnTo>
                  <a:cubicBezTo>
                    <a:pt x="838515" y="0"/>
                    <a:pt x="878025" y="39510"/>
                    <a:pt x="878025" y="88248"/>
                  </a:cubicBezTo>
                  <a:lnTo>
                    <a:pt x="878025" y="88248"/>
                  </a:lnTo>
                  <a:cubicBezTo>
                    <a:pt x="878025" y="111653"/>
                    <a:pt x="868727" y="134100"/>
                    <a:pt x="852177" y="150649"/>
                  </a:cubicBezTo>
                  <a:cubicBezTo>
                    <a:pt x="835628" y="167199"/>
                    <a:pt x="813181" y="176497"/>
                    <a:pt x="789776" y="176497"/>
                  </a:cubicBezTo>
                  <a:lnTo>
                    <a:pt x="88248" y="176497"/>
                  </a:lnTo>
                  <a:cubicBezTo>
                    <a:pt x="64843" y="176497"/>
                    <a:pt x="42397" y="167199"/>
                    <a:pt x="25847" y="150649"/>
                  </a:cubicBezTo>
                  <a:cubicBezTo>
                    <a:pt x="9298" y="134100"/>
                    <a:pt x="0" y="111653"/>
                    <a:pt x="0" y="88248"/>
                  </a:cubicBezTo>
                  <a:lnTo>
                    <a:pt x="0" y="88248"/>
                  </a:lnTo>
                  <a:cubicBezTo>
                    <a:pt x="0" y="64843"/>
                    <a:pt x="9298" y="42397"/>
                    <a:pt x="25847" y="25847"/>
                  </a:cubicBezTo>
                  <a:cubicBezTo>
                    <a:pt x="42397" y="9298"/>
                    <a:pt x="64843" y="0"/>
                    <a:pt x="88248" y="0"/>
                  </a:cubicBezTo>
                  <a:close/>
                </a:path>
              </a:pathLst>
            </a:custGeom>
            <a:solidFill>
              <a:srgbClr val="010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0" y="-38100"/>
              <a:ext cx="878025" cy="214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C3504"/>
                  </a:solidFill>
                  <a:latin typeface="Open Sans"/>
                  <a:ea typeface="Open Sans"/>
                  <a:cs typeface="Open Sans"/>
                  <a:sym typeface="Open Sans"/>
                </a:rPr>
                <a:t>RANKING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8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214" name="Google Shape;214;p8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8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8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7" name="Google Shape;217;p8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/>
          <p:nvPr/>
        </p:nvSpPr>
        <p:spPr>
          <a:xfrm>
            <a:off x="8944798" y="3252157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8"/>
          <p:cNvSpPr txBox="1"/>
          <p:nvPr/>
        </p:nvSpPr>
        <p:spPr>
          <a:xfrm>
            <a:off x="1046876" y="455200"/>
            <a:ext cx="137433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Resultados y análisis 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1911612" y="3838598"/>
            <a:ext cx="2689365" cy="531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1742389" y="6088659"/>
            <a:ext cx="2858588" cy="531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Análisis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230" name="Google Shape;230;p9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9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9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3" name="Google Shape;233;p9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4" name="Google Shape;234;p9"/>
          <p:cNvGrpSpPr/>
          <p:nvPr/>
        </p:nvGrpSpPr>
        <p:grpSpPr>
          <a:xfrm>
            <a:off x="5722450" y="5503134"/>
            <a:ext cx="6410351" cy="4485888"/>
            <a:chOff x="0" y="-117120"/>
            <a:chExt cx="8547134" cy="5981184"/>
          </a:xfrm>
        </p:grpSpPr>
        <p:grpSp>
          <p:nvGrpSpPr>
            <p:cNvPr id="235" name="Google Shape;235;p9"/>
            <p:cNvGrpSpPr/>
            <p:nvPr/>
          </p:nvGrpSpPr>
          <p:grpSpPr>
            <a:xfrm>
              <a:off x="0" y="-117120"/>
              <a:ext cx="8547134" cy="5981184"/>
              <a:chOff x="0" y="-28575"/>
              <a:chExt cx="2085330" cy="1459289"/>
            </a:xfrm>
          </p:grpSpPr>
          <p:sp>
            <p:nvSpPr>
              <p:cNvPr id="236" name="Google Shape;236;p9"/>
              <p:cNvSpPr/>
              <p:nvPr/>
            </p:nvSpPr>
            <p:spPr>
              <a:xfrm>
                <a:off x="0" y="0"/>
                <a:ext cx="2085329" cy="1430714"/>
              </a:xfrm>
              <a:custGeom>
                <a:rect b="b" l="l" r="r" t="t"/>
                <a:pathLst>
                  <a:path extrusionOk="0" h="1430714" w="2085329">
                    <a:moveTo>
                      <a:pt x="49868" y="0"/>
                    </a:moveTo>
                    <a:lnTo>
                      <a:pt x="2035462" y="0"/>
                    </a:lnTo>
                    <a:cubicBezTo>
                      <a:pt x="2048688" y="0"/>
                      <a:pt x="2061372" y="5254"/>
                      <a:pt x="2070724" y="14606"/>
                    </a:cubicBezTo>
                    <a:cubicBezTo>
                      <a:pt x="2080076" y="23958"/>
                      <a:pt x="2085329" y="36642"/>
                      <a:pt x="2085329" y="49868"/>
                    </a:cubicBezTo>
                    <a:lnTo>
                      <a:pt x="2085329" y="1380847"/>
                    </a:lnTo>
                    <a:cubicBezTo>
                      <a:pt x="2085329" y="1394072"/>
                      <a:pt x="2080076" y="1406756"/>
                      <a:pt x="2070724" y="1416108"/>
                    </a:cubicBezTo>
                    <a:cubicBezTo>
                      <a:pt x="2061372" y="1425460"/>
                      <a:pt x="2048688" y="1430714"/>
                      <a:pt x="2035462" y="1430714"/>
                    </a:cubicBezTo>
                    <a:lnTo>
                      <a:pt x="49868" y="1430714"/>
                    </a:lnTo>
                    <a:cubicBezTo>
                      <a:pt x="36642" y="1430714"/>
                      <a:pt x="23958" y="1425460"/>
                      <a:pt x="14606" y="1416108"/>
                    </a:cubicBezTo>
                    <a:cubicBezTo>
                      <a:pt x="5254" y="1406756"/>
                      <a:pt x="0" y="1394072"/>
                      <a:pt x="0" y="1380847"/>
                    </a:cubicBezTo>
                    <a:lnTo>
                      <a:pt x="0" y="49868"/>
                    </a:lnTo>
                    <a:cubicBezTo>
                      <a:pt x="0" y="36642"/>
                      <a:pt x="5254" y="23958"/>
                      <a:pt x="14606" y="14606"/>
                    </a:cubicBezTo>
                    <a:cubicBezTo>
                      <a:pt x="23958" y="5254"/>
                      <a:pt x="36642" y="0"/>
                      <a:pt x="49868" y="0"/>
                    </a:cubicBez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9"/>
              <p:cNvSpPr txBox="1"/>
              <p:nvPr/>
            </p:nvSpPr>
            <p:spPr>
              <a:xfrm>
                <a:off x="0" y="-28575"/>
                <a:ext cx="2085330" cy="14592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" name="Google Shape;238;p9"/>
            <p:cNvSpPr/>
            <p:nvPr/>
          </p:nvSpPr>
          <p:spPr>
            <a:xfrm>
              <a:off x="365906" y="286811"/>
              <a:ext cx="7950117" cy="5290442"/>
            </a:xfrm>
            <a:custGeom>
              <a:rect b="b" l="l" r="r" t="t"/>
              <a:pathLst>
                <a:path extrusionOk="0" h="5290442" w="7950117">
                  <a:moveTo>
                    <a:pt x="0" y="0"/>
                  </a:moveTo>
                  <a:lnTo>
                    <a:pt x="7950117" y="0"/>
                  </a:lnTo>
                  <a:lnTo>
                    <a:pt x="7950117" y="5290442"/>
                  </a:lnTo>
                  <a:lnTo>
                    <a:pt x="0" y="52904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9" name="Google Shape;239;p9"/>
          <p:cNvGrpSpPr/>
          <p:nvPr/>
        </p:nvGrpSpPr>
        <p:grpSpPr>
          <a:xfrm>
            <a:off x="1580808" y="2817993"/>
            <a:ext cx="15126384" cy="3192650"/>
            <a:chOff x="0" y="0"/>
            <a:chExt cx="20168512" cy="4256866"/>
          </a:xfrm>
        </p:grpSpPr>
        <p:grpSp>
          <p:nvGrpSpPr>
            <p:cNvPr id="240" name="Google Shape;240;p9"/>
            <p:cNvGrpSpPr/>
            <p:nvPr/>
          </p:nvGrpSpPr>
          <p:grpSpPr>
            <a:xfrm>
              <a:off x="0" y="960173"/>
              <a:ext cx="5104877" cy="2278088"/>
              <a:chOff x="0" y="-28575"/>
              <a:chExt cx="974718" cy="434975"/>
            </a:xfrm>
          </p:grpSpPr>
          <p:sp>
            <p:nvSpPr>
              <p:cNvPr id="241" name="Google Shape;241;p9"/>
              <p:cNvSpPr/>
              <p:nvPr/>
            </p:nvSpPr>
            <p:spPr>
              <a:xfrm>
                <a:off x="0" y="0"/>
                <a:ext cx="974718" cy="406400"/>
              </a:xfrm>
              <a:custGeom>
                <a:rect b="b" l="l" r="r" t="t"/>
                <a:pathLst>
                  <a:path extrusionOk="0" h="406400" w="974718">
                    <a:moveTo>
                      <a:pt x="77151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771518" y="406400"/>
                    </a:lnTo>
                    <a:lnTo>
                      <a:pt x="974718" y="203200"/>
                    </a:lnTo>
                    <a:lnTo>
                      <a:pt x="771518" y="0"/>
                    </a:ln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</p:sp>
          <p:sp>
            <p:nvSpPr>
              <p:cNvPr id="242" name="Google Shape;242;p9"/>
              <p:cNvSpPr txBox="1"/>
              <p:nvPr/>
            </p:nvSpPr>
            <p:spPr>
              <a:xfrm>
                <a:off x="0" y="-28575"/>
                <a:ext cx="860418" cy="434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9"/>
            <p:cNvGrpSpPr/>
            <p:nvPr/>
          </p:nvGrpSpPr>
          <p:grpSpPr>
            <a:xfrm>
              <a:off x="4407250" y="960174"/>
              <a:ext cx="5104877" cy="2278088"/>
              <a:chOff x="0" y="-28575"/>
              <a:chExt cx="974718" cy="434975"/>
            </a:xfrm>
          </p:grpSpPr>
          <p:sp>
            <p:nvSpPr>
              <p:cNvPr id="244" name="Google Shape;244;p9"/>
              <p:cNvSpPr/>
              <p:nvPr/>
            </p:nvSpPr>
            <p:spPr>
              <a:xfrm>
                <a:off x="0" y="0"/>
                <a:ext cx="974718" cy="406400"/>
              </a:xfrm>
              <a:custGeom>
                <a:rect b="b" l="l" r="r" t="t"/>
                <a:pathLst>
                  <a:path extrusionOk="0" h="406400" w="974718">
                    <a:moveTo>
                      <a:pt x="0" y="0"/>
                    </a:moveTo>
                    <a:lnTo>
                      <a:pt x="771518" y="0"/>
                    </a:lnTo>
                    <a:lnTo>
                      <a:pt x="974718" y="203200"/>
                    </a:lnTo>
                    <a:lnTo>
                      <a:pt x="771518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</p:sp>
          <p:sp>
            <p:nvSpPr>
              <p:cNvPr id="245" name="Google Shape;245;p9"/>
              <p:cNvSpPr txBox="1"/>
              <p:nvPr/>
            </p:nvSpPr>
            <p:spPr>
              <a:xfrm>
                <a:off x="177800" y="-28575"/>
                <a:ext cx="720718" cy="434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9"/>
            <p:cNvGrpSpPr/>
            <p:nvPr/>
          </p:nvGrpSpPr>
          <p:grpSpPr>
            <a:xfrm>
              <a:off x="13201256" y="960173"/>
              <a:ext cx="5104877" cy="2278088"/>
              <a:chOff x="0" y="-28575"/>
              <a:chExt cx="974718" cy="434975"/>
            </a:xfrm>
          </p:grpSpPr>
          <p:sp>
            <p:nvSpPr>
              <p:cNvPr id="247" name="Google Shape;247;p9"/>
              <p:cNvSpPr/>
              <p:nvPr/>
            </p:nvSpPr>
            <p:spPr>
              <a:xfrm>
                <a:off x="0" y="0"/>
                <a:ext cx="974718" cy="406400"/>
              </a:xfrm>
              <a:custGeom>
                <a:rect b="b" l="l" r="r" t="t"/>
                <a:pathLst>
                  <a:path extrusionOk="0" h="406400" w="974718">
                    <a:moveTo>
                      <a:pt x="0" y="0"/>
                    </a:moveTo>
                    <a:lnTo>
                      <a:pt x="771518" y="0"/>
                    </a:lnTo>
                    <a:lnTo>
                      <a:pt x="974718" y="203200"/>
                    </a:lnTo>
                    <a:lnTo>
                      <a:pt x="771518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</p:sp>
          <p:sp>
            <p:nvSpPr>
              <p:cNvPr id="248" name="Google Shape;248;p9"/>
              <p:cNvSpPr txBox="1"/>
              <p:nvPr/>
            </p:nvSpPr>
            <p:spPr>
              <a:xfrm>
                <a:off x="177800" y="-28575"/>
                <a:ext cx="720718" cy="434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9"/>
            <p:cNvGrpSpPr/>
            <p:nvPr/>
          </p:nvGrpSpPr>
          <p:grpSpPr>
            <a:xfrm>
              <a:off x="8867624" y="960174"/>
              <a:ext cx="5104877" cy="2278088"/>
              <a:chOff x="0" y="-28575"/>
              <a:chExt cx="974718" cy="434975"/>
            </a:xfrm>
          </p:grpSpPr>
          <p:sp>
            <p:nvSpPr>
              <p:cNvPr id="250" name="Google Shape;250;p9"/>
              <p:cNvSpPr/>
              <p:nvPr/>
            </p:nvSpPr>
            <p:spPr>
              <a:xfrm>
                <a:off x="0" y="0"/>
                <a:ext cx="974718" cy="406400"/>
              </a:xfrm>
              <a:custGeom>
                <a:rect b="b" l="l" r="r" t="t"/>
                <a:pathLst>
                  <a:path extrusionOk="0" h="406400" w="974718">
                    <a:moveTo>
                      <a:pt x="0" y="0"/>
                    </a:moveTo>
                    <a:lnTo>
                      <a:pt x="771518" y="0"/>
                    </a:lnTo>
                    <a:lnTo>
                      <a:pt x="974718" y="203200"/>
                    </a:lnTo>
                    <a:lnTo>
                      <a:pt x="771518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</p:sp>
          <p:sp>
            <p:nvSpPr>
              <p:cNvPr id="251" name="Google Shape;251;p9"/>
              <p:cNvSpPr txBox="1"/>
              <p:nvPr/>
            </p:nvSpPr>
            <p:spPr>
              <a:xfrm>
                <a:off x="177800" y="-28575"/>
                <a:ext cx="720718" cy="434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9"/>
            <p:cNvGrpSpPr/>
            <p:nvPr/>
          </p:nvGrpSpPr>
          <p:grpSpPr>
            <a:xfrm rot="5400000">
              <a:off x="16177700" y="266054"/>
              <a:ext cx="4256866" cy="3724758"/>
              <a:chOff x="0" y="0"/>
              <a:chExt cx="812800" cy="711200"/>
            </a:xfrm>
          </p:grpSpPr>
          <p:sp>
            <p:nvSpPr>
              <p:cNvPr id="253" name="Google Shape;253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E2C565"/>
              </a:solidFill>
              <a:ln>
                <a:noFill/>
              </a:ln>
            </p:spPr>
          </p:sp>
          <p:sp>
            <p:nvSpPr>
              <p:cNvPr id="254" name="Google Shape;254;p9"/>
              <p:cNvSpPr txBox="1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5" name="Google Shape;255;p9"/>
          <p:cNvSpPr txBox="1"/>
          <p:nvPr/>
        </p:nvSpPr>
        <p:spPr>
          <a:xfrm>
            <a:off x="1911612" y="1595922"/>
            <a:ext cx="14464775" cy="144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5E8DD1"/>
                </a:solidFill>
                <a:latin typeface="Ultra"/>
                <a:ea typeface="Ultra"/>
                <a:cs typeface="Ultra"/>
                <a:sym typeface="Ultra"/>
              </a:rPr>
              <a:t>KPI’s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1742389" y="3999663"/>
            <a:ext cx="3425698" cy="71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Recibimiento 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12277870" y="3999663"/>
            <a:ext cx="2689365" cy="71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Errores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5704860" y="3999663"/>
            <a:ext cx="2689365" cy="715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Cantidad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8927625" y="3999664"/>
            <a:ext cx="2689365" cy="715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14544"/>
                </a:solidFill>
                <a:latin typeface="Open Sans"/>
                <a:ea typeface="Open Sans"/>
                <a:cs typeface="Open Sans"/>
                <a:sym typeface="Open Sans"/>
              </a:rPr>
              <a:t>Calidad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 txBox="1"/>
          <p:nvPr/>
        </p:nvSpPr>
        <p:spPr>
          <a:xfrm>
            <a:off x="5618399" y="4114800"/>
            <a:ext cx="705120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94157"/>
                </a:solidFill>
                <a:latin typeface="Open Sans"/>
                <a:ea typeface="Open Sans"/>
                <a:cs typeface="Open Sans"/>
                <a:sym typeface="Open Sans"/>
              </a:rPr>
              <a:t>REFERENCIAS</a:t>
            </a:r>
            <a:endParaRPr/>
          </a:p>
        </p:txBody>
      </p:sp>
      <p:grpSp>
        <p:nvGrpSpPr>
          <p:cNvPr id="268" name="Google Shape;268;p10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269" name="Google Shape;269;p10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0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10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2" name="Google Shape;272;p10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0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5081909" y="5475493"/>
            <a:ext cx="8124181" cy="123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Team, Lumosity. "Cómo los juegos de memoria afectan la plasticidad cerebral." Lumosity, 15 May 2023, www.lumosity.com/es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 txBox="1"/>
          <p:nvPr/>
        </p:nvSpPr>
        <p:spPr>
          <a:xfrm>
            <a:off x="1861080" y="3584199"/>
            <a:ext cx="14565840" cy="3261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14" u="none" cap="none" strike="noStrike">
                <a:solidFill>
                  <a:srgbClr val="394157"/>
                </a:solidFill>
                <a:latin typeface="Ultra"/>
                <a:ea typeface="Ultra"/>
                <a:cs typeface="Ultra"/>
                <a:sym typeface="Ultra"/>
              </a:rPr>
              <a:t>¡Gracias por la atención!</a:t>
            </a:r>
            <a:endParaRPr/>
          </a:p>
        </p:txBody>
      </p:sp>
      <p:grpSp>
        <p:nvGrpSpPr>
          <p:cNvPr id="282" name="Google Shape;282;p11"/>
          <p:cNvGrpSpPr/>
          <p:nvPr/>
        </p:nvGrpSpPr>
        <p:grpSpPr>
          <a:xfrm>
            <a:off x="17260183" y="536696"/>
            <a:ext cx="428184" cy="267653"/>
            <a:chOff x="0" y="25400"/>
            <a:chExt cx="570912" cy="356870"/>
          </a:xfrm>
        </p:grpSpPr>
        <p:cxnSp>
          <p:nvCxnSpPr>
            <p:cNvPr id="283" name="Google Shape;283;p11"/>
            <p:cNvCxnSpPr/>
            <p:nvPr/>
          </p:nvCxnSpPr>
          <p:spPr>
            <a:xfrm>
              <a:off x="0" y="2540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11"/>
            <p:cNvCxnSpPr/>
            <p:nvPr/>
          </p:nvCxnSpPr>
          <p:spPr>
            <a:xfrm>
              <a:off x="0" y="2044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11"/>
            <p:cNvCxnSpPr/>
            <p:nvPr/>
          </p:nvCxnSpPr>
          <p:spPr>
            <a:xfrm>
              <a:off x="0" y="382270"/>
              <a:ext cx="570912" cy="0"/>
            </a:xfrm>
            <a:prstGeom prst="straightConnector1">
              <a:avLst/>
            </a:prstGeom>
            <a:noFill/>
            <a:ln cap="flat" cmpd="sng" w="50800">
              <a:solidFill>
                <a:srgbClr val="FC350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6" name="Google Shape;286;p11"/>
          <p:cNvSpPr/>
          <p:nvPr/>
        </p:nvSpPr>
        <p:spPr>
          <a:xfrm>
            <a:off x="247188" y="455205"/>
            <a:ext cx="2990403" cy="736387"/>
          </a:xfrm>
          <a:custGeom>
            <a:rect b="b" l="l" r="r" t="t"/>
            <a:pathLst>
              <a:path extrusionOk="0" h="736387" w="2990403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1"/>
          <p:cNvSpPr/>
          <p:nvPr/>
        </p:nvSpPr>
        <p:spPr>
          <a:xfrm rot="7240136">
            <a:off x="15240251" y="4900555"/>
            <a:ext cx="2213238" cy="1806807"/>
          </a:xfrm>
          <a:custGeom>
            <a:rect b="b" l="l" r="r" t="t"/>
            <a:pathLst>
              <a:path extrusionOk="0" h="1807078" w="2213570">
                <a:moveTo>
                  <a:pt x="0" y="0"/>
                </a:moveTo>
                <a:lnTo>
                  <a:pt x="2213570" y="0"/>
                </a:lnTo>
                <a:lnTo>
                  <a:pt x="2213570" y="1807078"/>
                </a:lnTo>
                <a:lnTo>
                  <a:pt x="0" y="1807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1"/>
          <p:cNvSpPr txBox="1"/>
          <p:nvPr/>
        </p:nvSpPr>
        <p:spPr>
          <a:xfrm>
            <a:off x="11596123" y="526218"/>
            <a:ext cx="10015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13482214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15371199" y="526218"/>
            <a:ext cx="13079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61FC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